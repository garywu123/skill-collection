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4"/>
  </p:sldMasterIdLst>
  <p:notesMasterIdLst>
    <p:notesMasterId r:id="rId9"/>
  </p:notesMasterIdLst>
  <p:handoutMasterIdLst>
    <p:handoutMasterId r:id="rId10"/>
  </p:handoutMasterIdLst>
  <p:sldIdLst>
    <p:sldId id="276" r:id="rId5"/>
    <p:sldId id="277" r:id="rId6"/>
    <p:sldId id="278" r:id="rId7"/>
    <p:sldId id="279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3EE967C-FCF7-8440-A657-AF797DF24B11}">
          <p14:sldIdLst/>
        </p14:section>
        <p14:section name="Content" id="{97733C3E-2074-0540-B925-4682F130C282}">
          <p14:sldIdLst/>
        </p14:section>
        <p14:section name="Last Slide" id="{BA19EB43-5E4C-6E41-9E6F-CF634D5A9800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778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384"/>
  </p:normalViewPr>
  <p:slideViewPr>
    <p:cSldViewPr snapToGrid="0" showGuides="1">
      <p:cViewPr varScale="1">
        <p:scale>
          <a:sx n="124" d="100"/>
          <a:sy n="124" d="100"/>
        </p:scale>
        <p:origin x="110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44" d="100"/>
          <a:sy n="144" d="100"/>
        </p:scale>
        <p:origin x="4344" y="208"/>
      </p:cViewPr>
      <p:guideLst>
        <p:guide orient="horz" pos="2880"/>
        <p:guide pos="2160"/>
      </p:guideLst>
    </p:cSldViewPr>
  </p:notes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F0A051-8D4D-6449-D65F-A5BF3F389B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BB271-EA1A-2DE4-1986-9C13C247F9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FD10C-8B0D-124E-B35F-115E2CE2693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BC642-EC5E-11E8-8AF8-835A218002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C39CF-E666-069C-530E-4BE79ED101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D1763-9B64-E14E-B2BF-D7F8A57DF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263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97479-C2DA-A144-B9B2-A495C8BD581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55BD6-4EE5-604C-9E98-DEFC9F69D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23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0C1DA6-FD03-AF6F-8871-7744B329F8B5}"/>
              </a:ext>
            </a:extLst>
          </p:cNvPr>
          <p:cNvSpPr/>
          <p:nvPr userDrawn="1"/>
        </p:nvSpPr>
        <p:spPr>
          <a:xfrm>
            <a:off x="0" y="1020961"/>
            <a:ext cx="9144000" cy="310157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358" y="1020961"/>
            <a:ext cx="7577962" cy="1920348"/>
          </a:xfrm>
        </p:spPr>
        <p:txBody>
          <a:bodyPr anchor="b">
            <a:normAutofit/>
          </a:bodyPr>
          <a:lstStyle>
            <a:lvl1pPr algn="l">
              <a:defRPr sz="4200">
                <a:solidFill>
                  <a:srgbClr val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358" y="3010365"/>
            <a:ext cx="7577962" cy="1112173"/>
          </a:xfrm>
        </p:spPr>
        <p:txBody>
          <a:bodyPr lIns="137160"/>
          <a:lstStyle>
            <a:lvl1pPr marL="0" indent="0" algn="l">
              <a:buNone/>
              <a:defRPr sz="1800">
                <a:solidFill>
                  <a:srgbClr val="00000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26952AF-21E4-C631-5E3A-8FB74D5F51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61" y="1263802"/>
            <a:ext cx="1371600" cy="3048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2618ED-AFF1-2573-28A0-7F2852684284}"/>
              </a:ext>
            </a:extLst>
          </p:cNvPr>
          <p:cNvCxnSpPr>
            <a:cxnSpLocks/>
          </p:cNvCxnSpPr>
          <p:nvPr userDrawn="1"/>
        </p:nvCxnSpPr>
        <p:spPr>
          <a:xfrm>
            <a:off x="697358" y="3824578"/>
            <a:ext cx="4843543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51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/>
          <p:nvPr userDrawn="1"/>
        </p:nvSpPr>
        <p:spPr>
          <a:xfrm>
            <a:off x="463254" y="0"/>
            <a:ext cx="8223546" cy="51435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6AF1DB-9B26-D975-091A-B41DCDB17570}"/>
              </a:ext>
            </a:extLst>
          </p:cNvPr>
          <p:cNvCxnSpPr>
            <a:cxnSpLocks/>
          </p:cNvCxnSpPr>
          <p:nvPr userDrawn="1"/>
        </p:nvCxnSpPr>
        <p:spPr>
          <a:xfrm>
            <a:off x="697358" y="4705350"/>
            <a:ext cx="773207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59571"/>
            <a:ext cx="7805549" cy="1698153"/>
          </a:xfrm>
        </p:spPr>
        <p:txBody>
          <a:bodyPr anchor="b">
            <a:normAutofit/>
          </a:bodyPr>
          <a:lstStyle>
            <a:lvl1pPr algn="ctr"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2977965"/>
            <a:ext cx="7805549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40183B-8262-E8AB-DE7A-56B9DF2849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61" y="683939"/>
            <a:ext cx="13716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88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/>
          <p:nvPr userDrawn="1"/>
        </p:nvSpPr>
        <p:spPr>
          <a:xfrm>
            <a:off x="463254" y="0"/>
            <a:ext cx="8223546" cy="51435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6AF1DB-9B26-D975-091A-B41DCDB17570}"/>
              </a:ext>
            </a:extLst>
          </p:cNvPr>
          <p:cNvCxnSpPr>
            <a:cxnSpLocks/>
          </p:cNvCxnSpPr>
          <p:nvPr userDrawn="1"/>
        </p:nvCxnSpPr>
        <p:spPr>
          <a:xfrm>
            <a:off x="697358" y="4705350"/>
            <a:ext cx="773207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8398" y="340394"/>
            <a:ext cx="5781038" cy="1176719"/>
          </a:xfrm>
        </p:spPr>
        <p:txBody>
          <a:bodyPr anchor="b">
            <a:normAutofit/>
          </a:bodyPr>
          <a:lstStyle>
            <a:lvl1pPr algn="l">
              <a:defRPr sz="3000"/>
            </a:lvl1pPr>
          </a:lstStyle>
          <a:p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40183B-8262-E8AB-DE7A-56B9DF2849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61" y="683939"/>
            <a:ext cx="1371600" cy="3048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05D421-10D5-3D03-0D04-71BAC43C7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1174" y="1698949"/>
            <a:ext cx="5768262" cy="2946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2054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Option 1_Ligh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34930-4537-38BF-99E4-F720241B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2F86B-2B10-6FBB-E789-FF69AD0A1E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B8941-AE5A-9C15-76EA-5FB1F8C2D00E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7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655F390-94BA-2C7D-646C-185765FC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BDFA5-D1A1-52DC-C9FA-BE05DC7A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53AD99-92FE-C445-B537-1BEBC5F1B4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CABAE-DD7F-ADF7-38D2-4E73D4AA260E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47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1DD353-0F53-1D1F-99B2-D86DEBAF59CE}"/>
              </a:ext>
            </a:extLst>
          </p:cNvPr>
          <p:cNvSpPr txBox="1"/>
          <p:nvPr userDrawn="1"/>
        </p:nvSpPr>
        <p:spPr>
          <a:xfrm>
            <a:off x="7351534" y="50503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788DC0-B188-B434-C40F-FA7115B0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35E9F4-CBEA-838D-DD09-9C3FF621A9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0E274A2-8EFE-C849-B590-9A8D86E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5863C55-E5F2-01F3-7930-CD6A2292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282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292918-CE3C-6872-2738-C8EED8CA4E3D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5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1DD353-0F53-1D1F-99B2-D86DEBAF59CE}"/>
              </a:ext>
            </a:extLst>
          </p:cNvPr>
          <p:cNvSpPr txBox="1"/>
          <p:nvPr userDrawn="1"/>
        </p:nvSpPr>
        <p:spPr>
          <a:xfrm>
            <a:off x="7351534" y="50503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788DC0-B188-B434-C40F-FA7115B0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35E9F4-CBEA-838D-DD09-9C3FF621A9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0E274A2-8EFE-C849-B590-9A8D86E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5863C55-E5F2-01F3-7930-CD6A2292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24420"/>
            <a:ext cx="40233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6495CDD-CD04-0D85-B8B5-E99CFFA853F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63438" y="1124420"/>
            <a:ext cx="40233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AC230-A9A6-B221-BE3B-E849779F7AC5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6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1DD353-0F53-1D1F-99B2-D86DEBAF59CE}"/>
              </a:ext>
            </a:extLst>
          </p:cNvPr>
          <p:cNvSpPr txBox="1"/>
          <p:nvPr userDrawn="1"/>
        </p:nvSpPr>
        <p:spPr>
          <a:xfrm>
            <a:off x="7351534" y="50503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788DC0-B188-B434-C40F-FA7115B0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35E9F4-CBEA-838D-DD09-9C3FF621A9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0E274A2-8EFE-C849-B590-9A8D86E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5863C55-E5F2-01F3-7930-CD6A2292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24420"/>
            <a:ext cx="26517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6E83F01-BBDF-00D7-D926-14AAAE8F8A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46118" y="1124420"/>
            <a:ext cx="26517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058067C-D712-D5FA-3C54-3753D10F89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35038" y="1124420"/>
            <a:ext cx="26517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7503C-52FD-FDE6-A943-5D4BE7A87560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9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0" y="532742"/>
            <a:ext cx="4799409" cy="3957639"/>
          </a:xfrm>
          <a:pattFill prst="pct10">
            <a:fgClr>
              <a:schemeClr val="tx1"/>
            </a:fgClr>
            <a:bgClr>
              <a:schemeClr val="bg1"/>
            </a:bgClr>
          </a:pattFill>
          <a:effectLst>
            <a:outerShdw blurRad="127000" dir="11760000" algn="t" rotWithShape="0">
              <a:prstClr val="black">
                <a:alpha val="25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71566-4860-8841-5924-F1524626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10DE31-796D-406A-F033-B353426BD7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7FFC0-8E70-D523-E8F4-858FF413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3294993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91E9948-E971-57C8-05FF-C815AE01E7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57199" y="1124420"/>
            <a:ext cx="3294992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3E28B-838A-CA9D-0316-1C8F75A66F5F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2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Light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199" y="532742"/>
            <a:ext cx="4799409" cy="3957639"/>
          </a:xfrm>
          <a:pattFill prst="pct10">
            <a:fgClr>
              <a:schemeClr val="tx1"/>
            </a:fgClr>
            <a:bgClr>
              <a:schemeClr val="bg1"/>
            </a:bgClr>
          </a:pattFill>
          <a:effectLst>
            <a:outerShdw blurRad="127000" dir="11760000" algn="t" rotWithShape="0">
              <a:prstClr val="black">
                <a:alpha val="25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71566-4860-8841-5924-F1524626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10DE31-796D-406A-F033-B353426BD7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7FFC0-8E70-D523-E8F4-858FF413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808" y="247650"/>
            <a:ext cx="3294993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91E9948-E971-57C8-05FF-C815AE01E7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91807" y="1124420"/>
            <a:ext cx="3294992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1B932-07C7-D5C2-ADED-76F9B385C698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1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Option 2_Light_1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63254" y="0"/>
            <a:ext cx="8223546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8504" dir="11739915" algn="b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BA194F4-E1B9-E0CF-21B2-F3809EB0CC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0CD47E11-37B9-6891-1036-E449AB515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570D1A-4E28-6CFF-47AB-E5335E1A614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5D304DAC-1940-6ADA-6047-6AED3EBCB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028950" y="4800086"/>
            <a:ext cx="30861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56E9AE4-E20F-03F8-DC08-F795E39D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8034106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615E34-3199-E74F-A9CA-92C8DC511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253" y="1133564"/>
            <a:ext cx="8034104" cy="35972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15249EF-4BD1-969E-0927-43F22E51E1A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97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Option 2_Light_2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63254" y="0"/>
            <a:ext cx="8223546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8504" dir="11739915" algn="b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BA194F4-E1B9-E0CF-21B2-F3809EB0CC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0CD47E11-37B9-6891-1036-E449AB515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570D1A-4E28-6CFF-47AB-E5335E1A614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5D304DAC-1940-6ADA-6047-6AED3EBCB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028950" y="4800086"/>
            <a:ext cx="30861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56E9AE4-E20F-03F8-DC08-F795E39D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8034106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E56D86-DBD0-7391-8356-BE4BE86BF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119282"/>
            <a:ext cx="393192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55F4ADE-AD79-BEBA-E107-1D3AC18D0E3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50827" y="1119282"/>
            <a:ext cx="393192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6738C5A-38DD-E7B7-A84E-094FCD35596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09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2_Light_1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815" y="271903"/>
            <a:ext cx="5439981" cy="786107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4" y="0"/>
            <a:ext cx="3017520" cy="5143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46816" y="1106487"/>
            <a:ext cx="5439981" cy="293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61793-8F77-A231-5050-9EE0C6B0FDA3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A766727-DBCB-28D6-F407-57E45E2A9B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9C1242-AABA-6C7B-E908-A90B7F7E0C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8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ED11A-5B83-7358-5F97-A20C65B6A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81" y="533384"/>
            <a:ext cx="2619447" cy="4051228"/>
          </a:xfrm>
          <a:prstGeom prst="rect">
            <a:avLst/>
          </a:prstGeom>
          <a:solidFill>
            <a:schemeClr val="bg1">
              <a:alpha val="70000"/>
            </a:schemeClr>
          </a:solidFill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449196-2CEE-1000-8F90-4C24E70796C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62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2_Light_1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285" y="271903"/>
            <a:ext cx="5439981" cy="786107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6118074" y="0"/>
            <a:ext cx="3017520" cy="5143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286" y="1106487"/>
            <a:ext cx="5439981" cy="29305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61793-8F77-A231-5050-9EE0C6B0FDA3}"/>
              </a:ext>
            </a:extLst>
          </p:cNvPr>
          <p:cNvSpPr/>
          <p:nvPr userDrawn="1"/>
        </p:nvSpPr>
        <p:spPr>
          <a:xfrm>
            <a:off x="457198" y="0"/>
            <a:ext cx="8229598" cy="80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FB89E5-8CAE-381A-A8A9-68C3B7B5D2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00056C-6F08-3D1F-C5DB-A9343CA66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BD5688E4-925A-BD82-E12B-A7DBC36273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1D82DB-0D7E-A30C-0858-160C5C9AA5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715DD95-16C3-3073-B9FC-87EA09B4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110" y="533384"/>
            <a:ext cx="2619447" cy="4051228"/>
          </a:xfrm>
          <a:prstGeom prst="rect">
            <a:avLst/>
          </a:prstGeom>
          <a:solidFill>
            <a:schemeClr val="bg1">
              <a:alpha val="70000"/>
            </a:schemeClr>
          </a:solidFill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7583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4" y="575286"/>
            <a:ext cx="457196" cy="3997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9D795B-9FD1-3B80-7251-D204369A42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8B5D7-8660-4225-1C55-B214E93F2E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41A91B6-5ABE-5E70-08A7-4BD3A0F5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BEF807-BC51-41A1-A3C8-711061DCA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124420"/>
            <a:ext cx="822959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4542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4" y="575286"/>
            <a:ext cx="457196" cy="3997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8F142C-DF68-DF09-B8C3-BE4C4946994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C55CD1-0855-137C-BDD2-D56E526A5D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8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02DDC86-FF2A-D526-02D4-B0ECA408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8229598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14074D4-2A37-7A14-E7C8-E5BAD19CD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124420"/>
            <a:ext cx="40233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CE66130-BA57-9E3A-A183-6FD4467C15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4879" y="1124420"/>
            <a:ext cx="402336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9176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4" y="575286"/>
            <a:ext cx="457196" cy="3997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ED1876-7C59-398A-7C6A-75B6F45912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3263" y="677160"/>
            <a:ext cx="3360737" cy="3895986"/>
          </a:xfrm>
          <a:pattFill prst="pct10">
            <a:fgClr>
              <a:schemeClr val="tx1"/>
            </a:fgClr>
            <a:bgClr>
              <a:schemeClr val="bg1"/>
            </a:bgClr>
          </a:pattFill>
          <a:effectLst>
            <a:outerShdw blurRad="127000" dir="11760000" algn="t" rotWithShape="0">
              <a:prstClr val="black">
                <a:alpha val="25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B8AE28-A247-108F-C37D-7F5474F9A32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04A92-1528-6E26-2E7E-2108449B46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F865A0D-011F-6A4C-002F-C6A0DBFF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47650"/>
            <a:ext cx="5076495" cy="85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506298A-3249-4C0D-CA45-E757DD54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124420"/>
            <a:ext cx="507649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3186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1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815" y="271903"/>
            <a:ext cx="5439981" cy="786107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" y="0"/>
            <a:ext cx="3017520" cy="5143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46816" y="1106487"/>
            <a:ext cx="5439981" cy="293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A766727-DBCB-28D6-F407-57E45E2A9B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9C1242-AABA-6C7B-E908-A90B7F7E0C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8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ED11A-5B83-7358-5F97-A20C65B6A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81" y="533384"/>
            <a:ext cx="2619447" cy="4051228"/>
          </a:xfrm>
          <a:prstGeom prst="rect">
            <a:avLst/>
          </a:prstGeom>
          <a:solidFill>
            <a:schemeClr val="bg1">
              <a:alpha val="70000"/>
            </a:schemeClr>
          </a:solidFill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44F40F-0D76-D51A-A79F-9E9C2C49DC98}"/>
              </a:ext>
            </a:extLst>
          </p:cNvPr>
          <p:cNvSpPr/>
          <p:nvPr userDrawn="1"/>
        </p:nvSpPr>
        <p:spPr>
          <a:xfrm rot="5400000">
            <a:off x="1394464" y="-971967"/>
            <a:ext cx="228600" cy="2172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7573D0-BF31-E302-9D7D-2226D983B20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76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Light_1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285" y="271903"/>
            <a:ext cx="5439981" cy="786107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118074" y="0"/>
            <a:ext cx="3017520" cy="5143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286" y="1106487"/>
            <a:ext cx="5439981" cy="29305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FB89E5-8CAE-381A-A8A9-68C3B7B5D2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00056C-6F08-3D1F-C5DB-A9343CA66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BD5688E4-925A-BD82-E12B-A7DBC36273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1D82DB-0D7E-A30C-0858-160C5C9AA5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715DD95-16C3-3073-B9FC-87EA09B4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110" y="533384"/>
            <a:ext cx="2619447" cy="4051228"/>
          </a:xfrm>
          <a:prstGeom prst="rect">
            <a:avLst/>
          </a:prstGeom>
          <a:solidFill>
            <a:schemeClr val="bg1">
              <a:alpha val="70000"/>
            </a:schemeClr>
          </a:solidFill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593607-5257-2CD8-1E86-662A1D8BC8D3}"/>
              </a:ext>
            </a:extLst>
          </p:cNvPr>
          <p:cNvSpPr/>
          <p:nvPr userDrawn="1"/>
        </p:nvSpPr>
        <p:spPr>
          <a:xfrm rot="5400000">
            <a:off x="7601367" y="-971967"/>
            <a:ext cx="228600" cy="2172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850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750898" y="28703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2E390B-3960-0627-78E8-E79AA6AC6A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542599" y="2128717"/>
            <a:ext cx="2058801" cy="88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8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229598" cy="1020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9218"/>
            <a:ext cx="8229600" cy="3336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885BCA7-B8BB-6CBB-60B1-DCE35A042F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87711" y="4861046"/>
            <a:ext cx="685800" cy="15240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D14C817-0C48-5024-A00C-2DFEC70DA1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028950" y="4800086"/>
            <a:ext cx="30861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19ED00-A77D-43E9-EA5E-6BAADE1C59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281480" y="4799928"/>
            <a:ext cx="40531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2CFB4D-6E7A-B369-6B56-9C48E434A92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231032" y="4822946"/>
            <a:ext cx="0" cy="228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AA1F7F2E-B699-9524-40CC-7EEC806B41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3696" y="4912220"/>
            <a:ext cx="584200" cy="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6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51" r:id="rId2"/>
    <p:sldLayoutId id="2147483804" r:id="rId3"/>
    <p:sldLayoutId id="2147483808" r:id="rId4"/>
    <p:sldLayoutId id="2147483852" r:id="rId5"/>
    <p:sldLayoutId id="2147483803" r:id="rId6"/>
    <p:sldLayoutId id="2147483860" r:id="rId7"/>
    <p:sldLayoutId id="2147483861" r:id="rId8"/>
    <p:sldLayoutId id="2147483810" r:id="rId9"/>
    <p:sldLayoutId id="2147483862" r:id="rId10"/>
    <p:sldLayoutId id="2147483823" r:id="rId11"/>
    <p:sldLayoutId id="2147483863" r:id="rId12"/>
    <p:sldLayoutId id="2147483853" r:id="rId13"/>
    <p:sldLayoutId id="2147483855" r:id="rId14"/>
    <p:sldLayoutId id="2147483831" r:id="rId15"/>
    <p:sldLayoutId id="2147483839" r:id="rId16"/>
    <p:sldLayoutId id="2147483838" r:id="rId17"/>
    <p:sldLayoutId id="2147483864" r:id="rId18"/>
    <p:sldLayoutId id="2147483865" r:id="rId19"/>
    <p:sldLayoutId id="2147483866" r:id="rId2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685800" rtl="0" eaLnBrk="1" latinLnBrk="0" hangingPunct="1">
        <a:lnSpc>
          <a:spcPct val="100000"/>
        </a:lnSpc>
        <a:spcBef>
          <a:spcPts val="700"/>
        </a:spcBef>
        <a:buClr>
          <a:schemeClr val="tx1"/>
        </a:buClr>
        <a:buSzPct val="11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6" userDrawn="1">
          <p15:clr>
            <a:srgbClr val="F26B43"/>
          </p15:clr>
        </p15:guide>
        <p15:guide id="2" orient="horz" pos="3084" userDrawn="1">
          <p15:clr>
            <a:srgbClr val="F26B43"/>
          </p15:clr>
        </p15:guide>
        <p15:guide id="3" orient="horz" pos="276" userDrawn="1">
          <p15:clr>
            <a:srgbClr val="F26B43"/>
          </p15:clr>
        </p15:guide>
        <p15:guide id="4" orient="horz" pos="2964" userDrawn="1">
          <p15:clr>
            <a:srgbClr val="F26B43"/>
          </p15:clr>
        </p15:guide>
        <p15:guide id="5" pos="144" userDrawn="1">
          <p15:clr>
            <a:srgbClr val="F26B43"/>
          </p15:clr>
        </p15:guide>
        <p15:guide id="6" pos="5616" userDrawn="1">
          <p15:clr>
            <a:srgbClr val="F26B43"/>
          </p15:clr>
        </p15:guide>
        <p15:guide id="7" pos="288" userDrawn="1">
          <p15:clr>
            <a:srgbClr val="F26B43"/>
          </p15:clr>
        </p15:guide>
        <p15:guide id="8" pos="5472" userDrawn="1">
          <p15:clr>
            <a:srgbClr val="F26B43"/>
          </p15:clr>
        </p15:guide>
        <p15:guide id="9" orient="horz" pos="1620" userDrawn="1">
          <p15:clr>
            <a:srgbClr val="F26B43"/>
          </p15:clr>
        </p15:guide>
        <p15:guide id="10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 - RTLS Support Up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_7_placeholder_3" descr="RTLS Support Update">
            <a:extLst>
              <a:ext uri="{FF2B5EF4-FFF2-40B4-BE49-F238E27FC236}">
                <a16:creationId xmlns:a16="http://schemas.microsoft.com/office/drawing/2014/main" id="{9A32D160-D08B-E3F9-200C-33738BD41F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r>
              <a:rPr lang="en-US">
                <a:latin typeface="Amasis MT Pro Medium" panose="02040604050005020304" pitchFamily="18" charset="0"/>
                <a:ea typeface="Microsoft YaHei" panose="020B0503020204020204" pitchFamily="34" charset="-122"/>
              </a:rPr>
              <a:t>RTLS Support Update</a:t>
            </a:r>
          </a:p>
        </p:txBody>
      </p:sp>
      <p:sp>
        <p:nvSpPr>
          <p:cNvPr id="3" name="content_7_placeholder_4" descr="Outage evidence and the path to Tier I support&#10;August 2026">
            <a:extLst>
              <a:ext uri="{FF2B5EF4-FFF2-40B4-BE49-F238E27FC236}">
                <a16:creationId xmlns:a16="http://schemas.microsoft.com/office/drawing/2014/main" id="{4E7509FD-7673-3B96-5EE1-F38FA53213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r>
              <a:rPr lang="en-US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Outage evidence and the path to Tier I support</a:t>
            </a:r>
          </a:p>
          <a:p>
            <a:r>
              <a:rPr lang="en-US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527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tegory - Support Oper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_8_placeholder_1" descr="Support operations">
            <a:extLst>
              <a:ext uri="{FF2B5EF4-FFF2-40B4-BE49-F238E27FC236}">
                <a16:creationId xmlns:a16="http://schemas.microsoft.com/office/drawing/2014/main" id="{B5998C02-D4CD-802A-682D-B9D3C8001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lang="en-US" sz="4000">
                <a:solidFill>
                  <a:srgbClr val="000000"/>
                </a:solidFill>
                <a:latin typeface="Amasis MT Pro Medium" panose="02040604050005020304" pitchFamily="18" charset="0"/>
                <a:ea typeface="Microsoft YaHei" panose="020B0503020204020204" pitchFamily="34" charset="-122"/>
              </a:rPr>
              <a:t>Support operations</a:t>
            </a:r>
          </a:p>
        </p:txBody>
      </p:sp>
      <p:sp>
        <p:nvSpPr>
          <p:cNvPr id="3" name="content_8_placeholder_2" descr="Recurring outage pattern&#10;and transition to the InfoLink service model">
            <a:extLst>
              <a:ext uri="{FF2B5EF4-FFF2-40B4-BE49-F238E27FC236}">
                <a16:creationId xmlns:a16="http://schemas.microsoft.com/office/drawing/2014/main" id="{21CF9B9C-A1AE-2215-BE46-63F22853D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Recurring outage pattern</a:t>
            </a:r>
          </a:p>
          <a:p>
            <a:pPr algn="l"/>
            <a:r>
              <a:rPr lang="en-US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and transition to the InfoLink service model</a:t>
            </a:r>
          </a:p>
        </p:txBody>
      </p:sp>
    </p:spTree>
    <p:extLst>
      <p:ext uri="{BB962C8B-B14F-4D97-AF65-F5344CB8AC3E}">
        <p14:creationId xmlns:p14="http://schemas.microsoft.com/office/powerpoint/2010/main" val="419491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vidence - Recent Out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_9_placeholder_1" descr="IDF power events drive recent anchor outages">
            <a:extLst>
              <a:ext uri="{FF2B5EF4-FFF2-40B4-BE49-F238E27FC236}">
                <a16:creationId xmlns:a16="http://schemas.microsoft.com/office/drawing/2014/main" id="{644F0B25-35AB-2387-6F90-74F85CEB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US" sz="2700" b="1" dirty="0">
                <a:solidFill>
                  <a:srgbClr val="000000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IDF power events drive recent anchor outages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2364F-34BB-DDB3-275A-A11464D1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5" name="outage_evidence_table" descr="Six recent support cases summarized by trigger, impact, and recovery">
            <a:extLst>
              <a:ext uri="{FF2B5EF4-FFF2-40B4-BE49-F238E27FC236}">
                <a16:creationId xmlns:a16="http://schemas.microsoft.com/office/drawing/2014/main" id="{4DC1E086-704A-8890-13F6-4C4C73015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273800"/>
              </p:ext>
            </p:extLst>
          </p:nvPr>
        </p:nvGraphicFramePr>
        <p:xfrm>
          <a:off x="457200" y="1155700"/>
          <a:ext cx="5715000" cy="2819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336402845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635462709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3807523405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10238985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81747810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Aptos Semibold" panose="020B0004020202020204" pitchFamily="34" charset="0"/>
                        </a:rPr>
                        <a:t>DATE</a:t>
                      </a:r>
                    </a:p>
                  </a:txBody>
                  <a:tcPr marL="25400" marR="254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9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Aptos Semibold" panose="020B0004020202020204" pitchFamily="34" charset="0"/>
                        </a:rPr>
                        <a:t>SITE</a:t>
                      </a:r>
                    </a:p>
                  </a:txBody>
                  <a:tcPr marL="25400" marR="254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9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Aptos Semibold" panose="020B0004020202020204" pitchFamily="34" charset="0"/>
                        </a:rPr>
                        <a:t>TRIGGER</a:t>
                      </a:r>
                    </a:p>
                  </a:txBody>
                  <a:tcPr marL="25400" marR="254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9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Aptos Semibold" panose="020B0004020202020204" pitchFamily="34" charset="0"/>
                        </a:rPr>
                        <a:t>OPERATIONAL IMPACT</a:t>
                      </a:r>
                    </a:p>
                  </a:txBody>
                  <a:tcPr marL="25400" marR="254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9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Aptos Semibold" panose="020B0004020202020204" pitchFamily="34" charset="0"/>
                        </a:rPr>
                        <a:t>RECOVERY</a:t>
                      </a:r>
                    </a:p>
                  </a:txBody>
                  <a:tcPr marL="25400" marR="254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9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80786"/>
                  </a:ext>
                </a:extLst>
              </a:tr>
              <a:tr h="414909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Jun 4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CVG2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Site maintenance /</a:t>
                      </a:r>
                    </a:p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power loss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Bridge + anchors offline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Restart CUWB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552734"/>
                  </a:ext>
                </a:extLst>
              </a:tr>
              <a:tr h="414909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Jun 7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STL3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IDF UPS down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28 anchors disconnected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Bypass IDF UPS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65786"/>
                  </a:ext>
                </a:extLst>
              </a:tr>
              <a:tr h="414909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Jun 14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CMH3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IDF outage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Vehicles unavailable</a:t>
                      </a:r>
                    </a:p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in some areas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Restart CUWB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183140"/>
                  </a:ext>
                </a:extLst>
              </a:tr>
              <a:tr h="414909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Jul 12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CMH3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IDF outage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Areas unavailable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Restart CUWB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30090"/>
                  </a:ext>
                </a:extLst>
              </a:tr>
              <a:tr h="414909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Aug 4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YY79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Holiday power cutoff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Slow vehicle movement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Restart CUWB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D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039684"/>
                  </a:ext>
                </a:extLst>
              </a:tr>
              <a:tr h="414909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Aug 10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CMH2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Likely IDF restart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Slow vehicle movement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rgbClr val="333333"/>
                          </a:solidFill>
                          <a:latin typeface="Aptos" panose="020B0004020202020204" pitchFamily="34" charset="0"/>
                          <a:ea typeface="Microsoft YaHei" panose="020B0503020204020204" pitchFamily="34" charset="-122"/>
                        </a:rPr>
                        <a:t>Self-recovered</a:t>
                      </a:r>
                    </a:p>
                  </a:txBody>
                  <a:tcPr marL="38100" marR="38100" marT="12700" marB="12700" anchor="ctr">
                    <a:lnL w="10160" cmpd="sng">
                      <a:solidFill>
                        <a:srgbClr val="FFFFFF"/>
                      </a:solidFill>
                    </a:lnL>
                    <a:lnR w="10160" cmpd="sng">
                      <a:solidFill>
                        <a:srgbClr val="FFFFFF"/>
                      </a:solidFill>
                    </a:lnR>
                    <a:lnT w="10160" cmpd="sng">
                      <a:solidFill>
                        <a:srgbClr val="FFFFFF"/>
                      </a:solidFill>
                    </a:lnT>
                    <a:lnB w="10160" cmpd="sng">
                      <a:solidFill>
                        <a:srgbClr val="FFFFFF"/>
                      </a:solidFill>
                    </a:lnB>
                    <a:solidFill>
                      <a:srgbClr val="F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090166"/>
                  </a:ext>
                </a:extLst>
              </a:tr>
            </a:tbl>
          </a:graphicData>
        </a:graphic>
      </p:graphicFrame>
      <p:cxnSp>
        <p:nvCxnSpPr>
          <p:cNvPr id="6" name="outage_sidebar_divider" descr="outage_sidebar_divider">
            <a:extLst>
              <a:ext uri="{FF2B5EF4-FFF2-40B4-BE49-F238E27FC236}">
                <a16:creationId xmlns:a16="http://schemas.microsoft.com/office/drawing/2014/main" id="{F04C9854-1AD2-02AF-BD1F-351B74AA4724}"/>
              </a:ext>
            </a:extLst>
          </p:cNvPr>
          <p:cNvCxnSpPr/>
          <p:nvPr/>
        </p:nvCxnSpPr>
        <p:spPr>
          <a:xfrm>
            <a:off x="6388100" y="1155700"/>
            <a:ext cx="0" cy="2819400"/>
          </a:xfrm>
          <a:prstGeom prst="line">
            <a:avLst/>
          </a:prstGeom>
          <a:ln w="1016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pattern_arrow_1" descr="pattern_arrow_1">
            <a:extLst>
              <a:ext uri="{FF2B5EF4-FFF2-40B4-BE49-F238E27FC236}">
                <a16:creationId xmlns:a16="http://schemas.microsoft.com/office/drawing/2014/main" id="{2D106838-7F10-3093-3313-FD9553D8DDDC}"/>
              </a:ext>
            </a:extLst>
          </p:cNvPr>
          <p:cNvCxnSpPr/>
          <p:nvPr/>
        </p:nvCxnSpPr>
        <p:spPr>
          <a:xfrm>
            <a:off x="7543800" y="1676400"/>
            <a:ext cx="0" cy="139700"/>
          </a:xfrm>
          <a:prstGeom prst="line">
            <a:avLst/>
          </a:prstGeom>
          <a:ln w="25400">
            <a:solidFill>
              <a:srgbClr val="FD982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pattern_arrow_2" descr="pattern_arrow_2">
            <a:extLst>
              <a:ext uri="{FF2B5EF4-FFF2-40B4-BE49-F238E27FC236}">
                <a16:creationId xmlns:a16="http://schemas.microsoft.com/office/drawing/2014/main" id="{F0194D0A-AFF5-83E7-DC01-339D979C590E}"/>
              </a:ext>
            </a:extLst>
          </p:cNvPr>
          <p:cNvCxnSpPr/>
          <p:nvPr/>
        </p:nvCxnSpPr>
        <p:spPr>
          <a:xfrm>
            <a:off x="7543800" y="2108200"/>
            <a:ext cx="0" cy="139700"/>
          </a:xfrm>
          <a:prstGeom prst="line">
            <a:avLst/>
          </a:prstGeom>
          <a:ln w="25400">
            <a:solidFill>
              <a:srgbClr val="FD982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ttern_heading" descr="RECURRING PATTERN">
            <a:extLst>
              <a:ext uri="{FF2B5EF4-FFF2-40B4-BE49-F238E27FC236}">
                <a16:creationId xmlns:a16="http://schemas.microsoft.com/office/drawing/2014/main" id="{22B36CBF-F335-20B9-CBE3-B4428B62DCAD}"/>
              </a:ext>
            </a:extLst>
          </p:cNvPr>
          <p:cNvSpPr txBox="1"/>
          <p:nvPr/>
        </p:nvSpPr>
        <p:spPr>
          <a:xfrm>
            <a:off x="6527800" y="1181100"/>
            <a:ext cx="215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FD9827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RECURRING PATTERN</a:t>
            </a:r>
          </a:p>
        </p:txBody>
      </p:sp>
      <p:sp>
        <p:nvSpPr>
          <p:cNvPr id="10" name="pattern_event" descr="IDF power event">
            <a:extLst>
              <a:ext uri="{FF2B5EF4-FFF2-40B4-BE49-F238E27FC236}">
                <a16:creationId xmlns:a16="http://schemas.microsoft.com/office/drawing/2014/main" id="{61824722-91E3-33EB-E47F-D69693DDEDD5}"/>
              </a:ext>
            </a:extLst>
          </p:cNvPr>
          <p:cNvSpPr txBox="1"/>
          <p:nvPr/>
        </p:nvSpPr>
        <p:spPr>
          <a:xfrm>
            <a:off x="6527800" y="1435100"/>
            <a:ext cx="215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IDF power event</a:t>
            </a:r>
          </a:p>
        </p:txBody>
      </p:sp>
      <p:sp>
        <p:nvSpPr>
          <p:cNvPr id="11" name="pattern_sync" descr="Anchors offline / out of sync">
            <a:extLst>
              <a:ext uri="{FF2B5EF4-FFF2-40B4-BE49-F238E27FC236}">
                <a16:creationId xmlns:a16="http://schemas.microsoft.com/office/drawing/2014/main" id="{04CFB688-C658-437A-66C6-E032B8DDD4E1}"/>
              </a:ext>
            </a:extLst>
          </p:cNvPr>
          <p:cNvSpPr txBox="1"/>
          <p:nvPr/>
        </p:nvSpPr>
        <p:spPr>
          <a:xfrm>
            <a:off x="6477000" y="1828800"/>
            <a:ext cx="2260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Anchors offline / out of sync</a:t>
            </a:r>
          </a:p>
        </p:txBody>
      </p:sp>
      <p:sp>
        <p:nvSpPr>
          <p:cNvPr id="12" name="pattern_impact" descr="Vehicle performance degrades">
            <a:extLst>
              <a:ext uri="{FF2B5EF4-FFF2-40B4-BE49-F238E27FC236}">
                <a16:creationId xmlns:a16="http://schemas.microsoft.com/office/drawing/2014/main" id="{B8AD4234-5DCB-9F01-4F29-241EA45E12BF}"/>
              </a:ext>
            </a:extLst>
          </p:cNvPr>
          <p:cNvSpPr txBox="1"/>
          <p:nvPr/>
        </p:nvSpPr>
        <p:spPr>
          <a:xfrm>
            <a:off x="6477000" y="2260600"/>
            <a:ext cx="2260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Vehicle performance degrades</a:t>
            </a:r>
          </a:p>
        </p:txBody>
      </p:sp>
      <p:cxnSp>
        <p:nvCxnSpPr>
          <p:cNvPr id="13" name="implication_rule" descr="implication_rule">
            <a:extLst>
              <a:ext uri="{FF2B5EF4-FFF2-40B4-BE49-F238E27FC236}">
                <a16:creationId xmlns:a16="http://schemas.microsoft.com/office/drawing/2014/main" id="{F7548612-5DED-EF85-45C3-5F233D4B97BA}"/>
              </a:ext>
            </a:extLst>
          </p:cNvPr>
          <p:cNvCxnSpPr/>
          <p:nvPr/>
        </p:nvCxnSpPr>
        <p:spPr>
          <a:xfrm>
            <a:off x="6527800" y="2616200"/>
            <a:ext cx="2159000" cy="0"/>
          </a:xfrm>
          <a:prstGeom prst="line">
            <a:avLst/>
          </a:prstGeom>
          <a:ln w="1016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mplication_heading" descr="OPERATIONAL IMPLICATION">
            <a:extLst>
              <a:ext uri="{FF2B5EF4-FFF2-40B4-BE49-F238E27FC236}">
                <a16:creationId xmlns:a16="http://schemas.microsoft.com/office/drawing/2014/main" id="{05DE1E62-C88C-D185-D58E-AD22C9766403}"/>
              </a:ext>
            </a:extLst>
          </p:cNvPr>
          <p:cNvSpPr txBox="1"/>
          <p:nvPr/>
        </p:nvSpPr>
        <p:spPr>
          <a:xfrm>
            <a:off x="6527800" y="2717800"/>
            <a:ext cx="215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50" b="1" dirty="0">
                <a:solidFill>
                  <a:srgbClr val="FD9827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OPERATIONAL IMPLICATION</a:t>
            </a:r>
          </a:p>
        </p:txBody>
      </p:sp>
      <p:sp>
        <p:nvSpPr>
          <p:cNvPr id="15" name="implication_text" descr="Tier I can resolve the common path&#10;with a standard runbook">
            <a:extLst>
              <a:ext uri="{FF2B5EF4-FFF2-40B4-BE49-F238E27FC236}">
                <a16:creationId xmlns:a16="http://schemas.microsoft.com/office/drawing/2014/main" id="{0B8C10A8-59A3-9CE0-844E-9E466FFB26ED}"/>
              </a:ext>
            </a:extLst>
          </p:cNvPr>
          <p:cNvSpPr txBox="1"/>
          <p:nvPr/>
        </p:nvSpPr>
        <p:spPr>
          <a:xfrm>
            <a:off x="6527800" y="2946400"/>
            <a:ext cx="2159000" cy="520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dirty="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Tier I can resolve the common path with a standard runbook</a:t>
            </a:r>
          </a:p>
        </p:txBody>
      </p:sp>
      <p:cxnSp>
        <p:nvCxnSpPr>
          <p:cNvPr id="16" name="response_rule" descr="response_rule">
            <a:extLst>
              <a:ext uri="{FF2B5EF4-FFF2-40B4-BE49-F238E27FC236}">
                <a16:creationId xmlns:a16="http://schemas.microsoft.com/office/drawing/2014/main" id="{AE6AC94C-5366-48A4-FAFA-81BA575BE623}"/>
              </a:ext>
            </a:extLst>
          </p:cNvPr>
          <p:cNvCxnSpPr/>
          <p:nvPr/>
        </p:nvCxnSpPr>
        <p:spPr>
          <a:xfrm>
            <a:off x="6527800" y="3505200"/>
            <a:ext cx="2159000" cy="0"/>
          </a:xfrm>
          <a:prstGeom prst="line">
            <a:avLst/>
          </a:prstGeom>
          <a:ln w="1016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sponse_heading" descr="STANDARD RESPONSE">
            <a:extLst>
              <a:ext uri="{FF2B5EF4-FFF2-40B4-BE49-F238E27FC236}">
                <a16:creationId xmlns:a16="http://schemas.microsoft.com/office/drawing/2014/main" id="{3C02624C-B0A7-0A3A-8AE4-202B2CEC87DC}"/>
              </a:ext>
            </a:extLst>
          </p:cNvPr>
          <p:cNvSpPr txBox="1"/>
          <p:nvPr/>
        </p:nvSpPr>
        <p:spPr>
          <a:xfrm>
            <a:off x="6527800" y="3581400"/>
            <a:ext cx="215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FD9827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STANDARD RESPONSE</a:t>
            </a:r>
          </a:p>
        </p:txBody>
      </p:sp>
      <p:sp>
        <p:nvSpPr>
          <p:cNvPr id="18" name="response_text" descr="Confirm power -&gt; resync anchors&#10;Escalate unresolved cases">
            <a:extLst>
              <a:ext uri="{FF2B5EF4-FFF2-40B4-BE49-F238E27FC236}">
                <a16:creationId xmlns:a16="http://schemas.microsoft.com/office/drawing/2014/main" id="{EFA6B9FD-111D-5281-A2D7-C5439C87CE10}"/>
              </a:ext>
            </a:extLst>
          </p:cNvPr>
          <p:cNvSpPr txBox="1"/>
          <p:nvPr/>
        </p:nvSpPr>
        <p:spPr>
          <a:xfrm>
            <a:off x="6527800" y="3784600"/>
            <a:ext cx="2159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Confirm power -&gt; resync anchors</a:t>
            </a:r>
          </a:p>
          <a:p>
            <a:pPr algn="ctr"/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Escalate unresolved cases</a:t>
            </a:r>
          </a:p>
        </p:txBody>
      </p:sp>
      <p:sp>
        <p:nvSpPr>
          <p:cNvPr id="19" name="outage_action_band" descr="outage_action_band">
            <a:extLst>
              <a:ext uri="{FF2B5EF4-FFF2-40B4-BE49-F238E27FC236}">
                <a16:creationId xmlns:a16="http://schemas.microsoft.com/office/drawing/2014/main" id="{AF850893-7246-BF2E-77B4-EE3041495A46}"/>
              </a:ext>
            </a:extLst>
          </p:cNvPr>
          <p:cNvSpPr/>
          <p:nvPr/>
        </p:nvSpPr>
        <p:spPr>
          <a:xfrm>
            <a:off x="457200" y="4140200"/>
            <a:ext cx="8229600" cy="368300"/>
          </a:xfrm>
          <a:prstGeom prst="rect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utage_action_text" descr="ACTION:  Adopt the standard response to restore service faster and reduce repeat cases.">
            <a:extLst>
              <a:ext uri="{FF2B5EF4-FFF2-40B4-BE49-F238E27FC236}">
                <a16:creationId xmlns:a16="http://schemas.microsoft.com/office/drawing/2014/main" id="{C3489190-598C-7703-383F-836D12BE6D51}"/>
              </a:ext>
            </a:extLst>
          </p:cNvPr>
          <p:cNvSpPr txBox="1"/>
          <p:nvPr/>
        </p:nvSpPr>
        <p:spPr>
          <a:xfrm>
            <a:off x="660400" y="4178300"/>
            <a:ext cx="7823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ACTION:</a:t>
            </a:r>
            <a:r>
              <a:rPr lang="en-US" sz="125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  Adopt the standard response to restore service faster and reduce repeat cases.</a:t>
            </a:r>
          </a:p>
        </p:txBody>
      </p:sp>
      <p:sp>
        <p:nvSpPr>
          <p:cNvPr id="21" name="outage_source" descr="Source: support cases, Jun-Aug 2026">
            <a:extLst>
              <a:ext uri="{FF2B5EF4-FFF2-40B4-BE49-F238E27FC236}">
                <a16:creationId xmlns:a16="http://schemas.microsoft.com/office/drawing/2014/main" id="{639B9029-01D8-33B4-487C-66D2EAFD07D9}"/>
              </a:ext>
            </a:extLst>
          </p:cNvPr>
          <p:cNvSpPr txBox="1"/>
          <p:nvPr/>
        </p:nvSpPr>
        <p:spPr>
          <a:xfrm>
            <a:off x="457200" y="4546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850">
                <a:solidFill>
                  <a:srgbClr val="88888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Source: support cases, Jun-Aug 2026</a:t>
            </a:r>
          </a:p>
        </p:txBody>
      </p:sp>
    </p:spTree>
    <p:extLst>
      <p:ext uri="{BB962C8B-B14F-4D97-AF65-F5344CB8AC3E}">
        <p14:creationId xmlns:p14="http://schemas.microsoft.com/office/powerpoint/2010/main" val="9389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erating Model - Tier I 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_10_placeholder_1" descr="Tier I moves to InfoLink in Q1 2027; Tier II remains interim coverage">
            <a:extLst>
              <a:ext uri="{FF2B5EF4-FFF2-40B4-BE49-F238E27FC236}">
                <a16:creationId xmlns:a16="http://schemas.microsoft.com/office/drawing/2014/main" id="{DAE431D5-606A-2CED-D47F-D56AB70C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US" sz="2600" b="1">
                <a:solidFill>
                  <a:srgbClr val="000000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Tier I moves to InfoLink in Q1 2027; Tier II remains interim coverage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80FB-C817-C09A-4D6C-7D00EBF93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5" name="model_separator_1" descr="model_separator_1">
            <a:extLst>
              <a:ext uri="{FF2B5EF4-FFF2-40B4-BE49-F238E27FC236}">
                <a16:creationId xmlns:a16="http://schemas.microsoft.com/office/drawing/2014/main" id="{C9FDE0CE-3F54-744F-5A57-E4397FA3D79B}"/>
              </a:ext>
            </a:extLst>
          </p:cNvPr>
          <p:cNvCxnSpPr/>
          <p:nvPr/>
        </p:nvCxnSpPr>
        <p:spPr>
          <a:xfrm>
            <a:off x="3136900" y="1765300"/>
            <a:ext cx="0" cy="1943100"/>
          </a:xfrm>
          <a:prstGeom prst="line">
            <a:avLst/>
          </a:prstGeom>
          <a:ln w="10160">
            <a:solidFill>
              <a:srgbClr val="FD98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model_separator_2" descr="model_separator_2">
            <a:extLst>
              <a:ext uri="{FF2B5EF4-FFF2-40B4-BE49-F238E27FC236}">
                <a16:creationId xmlns:a16="http://schemas.microsoft.com/office/drawing/2014/main" id="{6C419D92-4D8A-8255-843C-EFB9088AAB02}"/>
              </a:ext>
            </a:extLst>
          </p:cNvPr>
          <p:cNvCxnSpPr/>
          <p:nvPr/>
        </p:nvCxnSpPr>
        <p:spPr>
          <a:xfrm>
            <a:off x="5956300" y="1765300"/>
            <a:ext cx="0" cy="1943100"/>
          </a:xfrm>
          <a:prstGeom prst="line">
            <a:avLst/>
          </a:prstGeom>
          <a:ln w="10160">
            <a:solidFill>
              <a:srgbClr val="FD98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odel_transition_239" descr="Support model transition">
            <a:extLst>
              <a:ext uri="{FF2B5EF4-FFF2-40B4-BE49-F238E27FC236}">
                <a16:creationId xmlns:a16="http://schemas.microsoft.com/office/drawing/2014/main" id="{F24E58B1-F2B3-D43B-8F14-6B899C03FBDD}"/>
              </a:ext>
            </a:extLst>
          </p:cNvPr>
          <p:cNvSpPr/>
          <p:nvPr/>
        </p:nvSpPr>
        <p:spPr>
          <a:xfrm>
            <a:off x="3035300" y="1257300"/>
            <a:ext cx="177800" cy="228600"/>
          </a:xfrm>
          <a:prstGeom prst="chevron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model_transition_461" descr="Support model transition">
            <a:extLst>
              <a:ext uri="{FF2B5EF4-FFF2-40B4-BE49-F238E27FC236}">
                <a16:creationId xmlns:a16="http://schemas.microsoft.com/office/drawing/2014/main" id="{F231747D-22E2-4622-0021-635F50F73E9C}"/>
              </a:ext>
            </a:extLst>
          </p:cNvPr>
          <p:cNvSpPr/>
          <p:nvPr/>
        </p:nvSpPr>
        <p:spPr>
          <a:xfrm>
            <a:off x="5854700" y="1257300"/>
            <a:ext cx="177800" cy="228600"/>
          </a:xfrm>
          <a:prstGeom prst="chevron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urrent_state_icon_background" descr="current_state_icon icon background">
            <a:extLst>
              <a:ext uri="{FF2B5EF4-FFF2-40B4-BE49-F238E27FC236}">
                <a16:creationId xmlns:a16="http://schemas.microsoft.com/office/drawing/2014/main" id="{0CD2CD8D-C83C-1C43-6124-A0076C99A8B3}"/>
              </a:ext>
            </a:extLst>
          </p:cNvPr>
          <p:cNvSpPr/>
          <p:nvPr/>
        </p:nvSpPr>
        <p:spPr>
          <a:xfrm>
            <a:off x="469900" y="1117600"/>
            <a:ext cx="533400" cy="533400"/>
          </a:xfrm>
          <a:prstGeom prst="ellipse">
            <a:avLst/>
          </a:prstGeom>
          <a:solidFill>
            <a:srgbClr val="FDE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urrent_state_icon" descr="current_state_icon icon">
            <a:extLst>
              <a:ext uri="{FF2B5EF4-FFF2-40B4-BE49-F238E27FC236}">
                <a16:creationId xmlns:a16="http://schemas.microsoft.com/office/drawing/2014/main" id="{50F726F7-C705-B1BD-3B36-05854414408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915" y="1237615"/>
            <a:ext cx="293370" cy="293370"/>
          </a:xfrm>
          <a:prstGeom prst="rect">
            <a:avLst/>
          </a:prstGeom>
        </p:spPr>
      </p:pic>
      <p:sp>
        <p:nvSpPr>
          <p:cNvPr id="12" name="current_state_icon_heading" descr="CURRENT STATE">
            <a:extLst>
              <a:ext uri="{FF2B5EF4-FFF2-40B4-BE49-F238E27FC236}">
                <a16:creationId xmlns:a16="http://schemas.microsoft.com/office/drawing/2014/main" id="{E90F9BC4-A4A2-746B-0632-86EA93DF9AF4}"/>
              </a:ext>
            </a:extLst>
          </p:cNvPr>
          <p:cNvSpPr txBox="1"/>
          <p:nvPr/>
        </p:nvSpPr>
        <p:spPr>
          <a:xfrm>
            <a:off x="1130300" y="1231900"/>
            <a:ext cx="1866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>
                <a:solidFill>
                  <a:srgbClr val="E0571D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CURRENT STATE</a:t>
            </a:r>
          </a:p>
        </p:txBody>
      </p:sp>
      <p:cxnSp>
        <p:nvCxnSpPr>
          <p:cNvPr id="13" name="current_state_icon_rule" descr="current_state_icon_rule">
            <a:extLst>
              <a:ext uri="{FF2B5EF4-FFF2-40B4-BE49-F238E27FC236}">
                <a16:creationId xmlns:a16="http://schemas.microsoft.com/office/drawing/2014/main" id="{482F0275-2EF8-869F-A0C7-EEDEFD19B191}"/>
              </a:ext>
            </a:extLst>
          </p:cNvPr>
          <p:cNvCxnSpPr/>
          <p:nvPr/>
        </p:nvCxnSpPr>
        <p:spPr>
          <a:xfrm>
            <a:off x="1130300" y="1511300"/>
            <a:ext cx="1854200" cy="0"/>
          </a:xfrm>
          <a:prstGeom prst="line">
            <a:avLst/>
          </a:prstGeom>
          <a:ln w="15240">
            <a:solidFill>
              <a:srgbClr val="FD98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build_now_icon_background" descr="build_now_icon icon background">
            <a:extLst>
              <a:ext uri="{FF2B5EF4-FFF2-40B4-BE49-F238E27FC236}">
                <a16:creationId xmlns:a16="http://schemas.microsoft.com/office/drawing/2014/main" id="{F256986D-BBDC-7091-7E1B-ABD8AB8C786C}"/>
              </a:ext>
            </a:extLst>
          </p:cNvPr>
          <p:cNvSpPr/>
          <p:nvPr/>
        </p:nvSpPr>
        <p:spPr>
          <a:xfrm>
            <a:off x="3289300" y="1117600"/>
            <a:ext cx="533400" cy="533400"/>
          </a:xfrm>
          <a:prstGeom prst="ellipse">
            <a:avLst/>
          </a:prstGeom>
          <a:solidFill>
            <a:srgbClr val="FDE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build_now_icon" descr="build_now_icon icon">
            <a:extLst>
              <a:ext uri="{FF2B5EF4-FFF2-40B4-BE49-F238E27FC236}">
                <a16:creationId xmlns:a16="http://schemas.microsoft.com/office/drawing/2014/main" id="{76F8B104-8719-A23A-616F-B2761D5FD98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9315" y="1237615"/>
            <a:ext cx="293370" cy="293370"/>
          </a:xfrm>
          <a:prstGeom prst="rect">
            <a:avLst/>
          </a:prstGeom>
        </p:spPr>
      </p:pic>
      <p:sp>
        <p:nvSpPr>
          <p:cNvPr id="17" name="build_now_icon_heading" descr="BUILD NOW">
            <a:extLst>
              <a:ext uri="{FF2B5EF4-FFF2-40B4-BE49-F238E27FC236}">
                <a16:creationId xmlns:a16="http://schemas.microsoft.com/office/drawing/2014/main" id="{88D8892E-7129-F727-6437-DF5EE3CDC773}"/>
              </a:ext>
            </a:extLst>
          </p:cNvPr>
          <p:cNvSpPr txBox="1"/>
          <p:nvPr/>
        </p:nvSpPr>
        <p:spPr>
          <a:xfrm>
            <a:off x="3949700" y="1231900"/>
            <a:ext cx="1866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>
                <a:solidFill>
                  <a:srgbClr val="E0571D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BUILD NOW</a:t>
            </a:r>
          </a:p>
        </p:txBody>
      </p:sp>
      <p:cxnSp>
        <p:nvCxnSpPr>
          <p:cNvPr id="18" name="build_now_icon_rule" descr="build_now_icon_rule">
            <a:extLst>
              <a:ext uri="{FF2B5EF4-FFF2-40B4-BE49-F238E27FC236}">
                <a16:creationId xmlns:a16="http://schemas.microsoft.com/office/drawing/2014/main" id="{EED2A854-CDFF-E3F6-A240-A0C6AA6FAC0D}"/>
              </a:ext>
            </a:extLst>
          </p:cNvPr>
          <p:cNvCxnSpPr/>
          <p:nvPr/>
        </p:nvCxnSpPr>
        <p:spPr>
          <a:xfrm>
            <a:off x="3949700" y="1511300"/>
            <a:ext cx="1854200" cy="0"/>
          </a:xfrm>
          <a:prstGeom prst="line">
            <a:avLst/>
          </a:prstGeom>
          <a:ln w="15240">
            <a:solidFill>
              <a:srgbClr val="FD98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arget_state_icon_background" descr="target_state_icon icon background">
            <a:extLst>
              <a:ext uri="{FF2B5EF4-FFF2-40B4-BE49-F238E27FC236}">
                <a16:creationId xmlns:a16="http://schemas.microsoft.com/office/drawing/2014/main" id="{6B2AC647-0236-4AF3-1B9A-5EAE8512D3B4}"/>
              </a:ext>
            </a:extLst>
          </p:cNvPr>
          <p:cNvSpPr/>
          <p:nvPr/>
        </p:nvSpPr>
        <p:spPr>
          <a:xfrm>
            <a:off x="6108700" y="1117600"/>
            <a:ext cx="533400" cy="533400"/>
          </a:xfrm>
          <a:prstGeom prst="ellipse">
            <a:avLst/>
          </a:prstGeom>
          <a:solidFill>
            <a:srgbClr val="FDE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target_state_icon" descr="target_state_icon icon">
            <a:extLst>
              <a:ext uri="{FF2B5EF4-FFF2-40B4-BE49-F238E27FC236}">
                <a16:creationId xmlns:a16="http://schemas.microsoft.com/office/drawing/2014/main" id="{043F89F5-6727-BD6E-7D57-F6B8610AD16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8715" y="1237615"/>
            <a:ext cx="293370" cy="293370"/>
          </a:xfrm>
          <a:prstGeom prst="rect">
            <a:avLst/>
          </a:prstGeom>
        </p:spPr>
      </p:pic>
      <p:sp>
        <p:nvSpPr>
          <p:cNvPr id="22" name="target_state_icon_heading" descr="TARGET STATE">
            <a:extLst>
              <a:ext uri="{FF2B5EF4-FFF2-40B4-BE49-F238E27FC236}">
                <a16:creationId xmlns:a16="http://schemas.microsoft.com/office/drawing/2014/main" id="{D0C09477-26FD-49C6-3623-ACACD2BED0A0}"/>
              </a:ext>
            </a:extLst>
          </p:cNvPr>
          <p:cNvSpPr txBox="1"/>
          <p:nvPr/>
        </p:nvSpPr>
        <p:spPr>
          <a:xfrm>
            <a:off x="6769100" y="1231900"/>
            <a:ext cx="1866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>
                <a:solidFill>
                  <a:srgbClr val="E0571D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TARGET STATE</a:t>
            </a:r>
          </a:p>
        </p:txBody>
      </p:sp>
      <p:cxnSp>
        <p:nvCxnSpPr>
          <p:cNvPr id="23" name="target_state_icon_rule" descr="target_state_icon_rule">
            <a:extLst>
              <a:ext uri="{FF2B5EF4-FFF2-40B4-BE49-F238E27FC236}">
                <a16:creationId xmlns:a16="http://schemas.microsoft.com/office/drawing/2014/main" id="{F3145FC1-A0F5-3C5B-AD47-DE42CA7E956C}"/>
              </a:ext>
            </a:extLst>
          </p:cNvPr>
          <p:cNvCxnSpPr/>
          <p:nvPr/>
        </p:nvCxnSpPr>
        <p:spPr>
          <a:xfrm>
            <a:off x="6769100" y="1511300"/>
            <a:ext cx="1854200" cy="0"/>
          </a:xfrm>
          <a:prstGeom prst="line">
            <a:avLst/>
          </a:prstGeom>
          <a:ln w="15240">
            <a:solidFill>
              <a:srgbClr val="FD98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rrent_tier2_bullet" descr="Tier II support bullet">
            <a:extLst>
              <a:ext uri="{FF2B5EF4-FFF2-40B4-BE49-F238E27FC236}">
                <a16:creationId xmlns:a16="http://schemas.microsoft.com/office/drawing/2014/main" id="{48993140-04E3-F33B-404B-F52A8EB90B39}"/>
              </a:ext>
            </a:extLst>
          </p:cNvPr>
          <p:cNvSpPr/>
          <p:nvPr/>
        </p:nvSpPr>
        <p:spPr>
          <a:xfrm>
            <a:off x="660400" y="18542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urrent_tier2" descr="Tier II support&#10;Monday-Friday, 8 AM-5 PM EST">
            <a:extLst>
              <a:ext uri="{FF2B5EF4-FFF2-40B4-BE49-F238E27FC236}">
                <a16:creationId xmlns:a16="http://schemas.microsoft.com/office/drawing/2014/main" id="{8499ABF2-915C-FF5F-4F0B-0B36861F120B}"/>
              </a:ext>
            </a:extLst>
          </p:cNvPr>
          <p:cNvSpPr txBox="1"/>
          <p:nvPr/>
        </p:nvSpPr>
        <p:spPr>
          <a:xfrm>
            <a:off x="838200" y="1765300"/>
            <a:ext cx="210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Tier II support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Monday-Friday, 8 AM-5 PM EST</a:t>
            </a:r>
          </a:p>
        </p:txBody>
      </p:sp>
      <p:cxnSp>
        <p:nvCxnSpPr>
          <p:cNvPr id="26" name="current_tier2_separator" descr="current_tier2_separator">
            <a:extLst>
              <a:ext uri="{FF2B5EF4-FFF2-40B4-BE49-F238E27FC236}">
                <a16:creationId xmlns:a16="http://schemas.microsoft.com/office/drawing/2014/main" id="{8076EF07-2059-AAB3-6ABE-3230289D0EAF}"/>
              </a:ext>
            </a:extLst>
          </p:cNvPr>
          <p:cNvCxnSpPr/>
          <p:nvPr/>
        </p:nvCxnSpPr>
        <p:spPr>
          <a:xfrm>
            <a:off x="660400" y="2209800"/>
            <a:ext cx="2286000" cy="0"/>
          </a:xfrm>
          <a:prstGeom prst="line">
            <a:avLst/>
          </a:prstGeom>
          <a:ln w="762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rrent_after_hours_bullet" descr="After-hours anchor issues bullet">
            <a:extLst>
              <a:ext uri="{FF2B5EF4-FFF2-40B4-BE49-F238E27FC236}">
                <a16:creationId xmlns:a16="http://schemas.microsoft.com/office/drawing/2014/main" id="{3B2CD5DD-F042-40B8-54F6-76DD7137457C}"/>
              </a:ext>
            </a:extLst>
          </p:cNvPr>
          <p:cNvSpPr/>
          <p:nvPr/>
        </p:nvSpPr>
        <p:spPr>
          <a:xfrm>
            <a:off x="660400" y="23749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urrent_after_hours" descr="After-hours anchor issues&#10;Use bypass mode">
            <a:extLst>
              <a:ext uri="{FF2B5EF4-FFF2-40B4-BE49-F238E27FC236}">
                <a16:creationId xmlns:a16="http://schemas.microsoft.com/office/drawing/2014/main" id="{14B08E09-E4A7-5C16-1185-E838B2FBA0F5}"/>
              </a:ext>
            </a:extLst>
          </p:cNvPr>
          <p:cNvSpPr txBox="1"/>
          <p:nvPr/>
        </p:nvSpPr>
        <p:spPr>
          <a:xfrm>
            <a:off x="838200" y="2286000"/>
            <a:ext cx="210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After-hours anchor issues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Use bypass mode</a:t>
            </a:r>
          </a:p>
        </p:txBody>
      </p:sp>
      <p:cxnSp>
        <p:nvCxnSpPr>
          <p:cNvPr id="29" name="current_after_hours_separator" descr="current_after_hours_separator">
            <a:extLst>
              <a:ext uri="{FF2B5EF4-FFF2-40B4-BE49-F238E27FC236}">
                <a16:creationId xmlns:a16="http://schemas.microsoft.com/office/drawing/2014/main" id="{1288736B-40EE-EDC6-73C8-2B8FC8FDE741}"/>
              </a:ext>
            </a:extLst>
          </p:cNvPr>
          <p:cNvCxnSpPr/>
          <p:nvPr/>
        </p:nvCxnSpPr>
        <p:spPr>
          <a:xfrm>
            <a:off x="660400" y="2730500"/>
            <a:ext cx="2286000" cy="0"/>
          </a:xfrm>
          <a:prstGeom prst="line">
            <a:avLst/>
          </a:prstGeom>
          <a:ln w="762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rrent_local_owner_bullet" descr="Amazon local resource bullet">
            <a:extLst>
              <a:ext uri="{FF2B5EF4-FFF2-40B4-BE49-F238E27FC236}">
                <a16:creationId xmlns:a16="http://schemas.microsoft.com/office/drawing/2014/main" id="{1F605B6D-A165-5C66-1279-8B6E951DCBA9}"/>
              </a:ext>
            </a:extLst>
          </p:cNvPr>
          <p:cNvSpPr/>
          <p:nvPr/>
        </p:nvSpPr>
        <p:spPr>
          <a:xfrm>
            <a:off x="660400" y="28956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rrent_local_owner" descr="Amazon local resource&#10;Powers down the bridge">
            <a:extLst>
              <a:ext uri="{FF2B5EF4-FFF2-40B4-BE49-F238E27FC236}">
                <a16:creationId xmlns:a16="http://schemas.microsoft.com/office/drawing/2014/main" id="{22D1C4E9-0E8C-CEA2-2387-3365F3C695AE}"/>
              </a:ext>
            </a:extLst>
          </p:cNvPr>
          <p:cNvSpPr txBox="1"/>
          <p:nvPr/>
        </p:nvSpPr>
        <p:spPr>
          <a:xfrm>
            <a:off x="838200" y="2806700"/>
            <a:ext cx="210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Amazon local resource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Powers down the bridge</a:t>
            </a:r>
          </a:p>
        </p:txBody>
      </p:sp>
      <p:cxnSp>
        <p:nvCxnSpPr>
          <p:cNvPr id="32" name="current_local_owner_separator" descr="current_local_owner_separator">
            <a:extLst>
              <a:ext uri="{FF2B5EF4-FFF2-40B4-BE49-F238E27FC236}">
                <a16:creationId xmlns:a16="http://schemas.microsoft.com/office/drawing/2014/main" id="{37383C5D-B8FE-DEB6-DE8D-0C1E84383ACD}"/>
              </a:ext>
            </a:extLst>
          </p:cNvPr>
          <p:cNvCxnSpPr/>
          <p:nvPr/>
        </p:nvCxnSpPr>
        <p:spPr>
          <a:xfrm>
            <a:off x="660400" y="3251200"/>
            <a:ext cx="2286000" cy="0"/>
          </a:xfrm>
          <a:prstGeom prst="line">
            <a:avLst/>
          </a:prstGeom>
          <a:ln w="762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rrent_cost_bullet" descr="No cost bullet">
            <a:extLst>
              <a:ext uri="{FF2B5EF4-FFF2-40B4-BE49-F238E27FC236}">
                <a16:creationId xmlns:a16="http://schemas.microsoft.com/office/drawing/2014/main" id="{E5A75DBB-E7E7-FBB8-DBA2-BD5B6B9CF315}"/>
              </a:ext>
            </a:extLst>
          </p:cNvPr>
          <p:cNvSpPr/>
          <p:nvPr/>
        </p:nvSpPr>
        <p:spPr>
          <a:xfrm>
            <a:off x="660400" y="34163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urrent_cost" descr="No cost&#10;Until Tier I services are established">
            <a:extLst>
              <a:ext uri="{FF2B5EF4-FFF2-40B4-BE49-F238E27FC236}">
                <a16:creationId xmlns:a16="http://schemas.microsoft.com/office/drawing/2014/main" id="{0AF2F4F9-B641-9A48-569A-4A921D6DC368}"/>
              </a:ext>
            </a:extLst>
          </p:cNvPr>
          <p:cNvSpPr txBox="1"/>
          <p:nvPr/>
        </p:nvSpPr>
        <p:spPr>
          <a:xfrm>
            <a:off x="838200" y="3327400"/>
            <a:ext cx="2108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No cost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Until Tier I services are established</a:t>
            </a:r>
          </a:p>
        </p:txBody>
      </p:sp>
      <p:sp>
        <p:nvSpPr>
          <p:cNvPr id="35" name="build_tools_bullet" descr="Crown RTLS support tools bullet">
            <a:extLst>
              <a:ext uri="{FF2B5EF4-FFF2-40B4-BE49-F238E27FC236}">
                <a16:creationId xmlns:a16="http://schemas.microsoft.com/office/drawing/2014/main" id="{1B5D1F4E-0146-52E9-ED12-0DE0048599F3}"/>
              </a:ext>
            </a:extLst>
          </p:cNvPr>
          <p:cNvSpPr/>
          <p:nvPr/>
        </p:nvSpPr>
        <p:spPr>
          <a:xfrm>
            <a:off x="3479800" y="18542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build_tools" descr="Crown RTLS support tools">
            <a:extLst>
              <a:ext uri="{FF2B5EF4-FFF2-40B4-BE49-F238E27FC236}">
                <a16:creationId xmlns:a16="http://schemas.microsoft.com/office/drawing/2014/main" id="{968E3AB2-1724-E1F4-DE86-A69235652864}"/>
              </a:ext>
            </a:extLst>
          </p:cNvPr>
          <p:cNvSpPr txBox="1"/>
          <p:nvPr/>
        </p:nvSpPr>
        <p:spPr>
          <a:xfrm>
            <a:off x="3657600" y="1765300"/>
            <a:ext cx="2108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Crown RTLS support tools</a:t>
            </a:r>
          </a:p>
        </p:txBody>
      </p:sp>
      <p:cxnSp>
        <p:nvCxnSpPr>
          <p:cNvPr id="37" name="build_tools_separator" descr="build_tools_separator">
            <a:extLst>
              <a:ext uri="{FF2B5EF4-FFF2-40B4-BE49-F238E27FC236}">
                <a16:creationId xmlns:a16="http://schemas.microsoft.com/office/drawing/2014/main" id="{F6DDFC68-D473-B5D7-58F9-4D2789174381}"/>
              </a:ext>
            </a:extLst>
          </p:cNvPr>
          <p:cNvCxnSpPr/>
          <p:nvPr/>
        </p:nvCxnSpPr>
        <p:spPr>
          <a:xfrm>
            <a:off x="3479800" y="2159000"/>
            <a:ext cx="2286000" cy="0"/>
          </a:xfrm>
          <a:prstGeom prst="line">
            <a:avLst/>
          </a:prstGeom>
          <a:ln w="762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build_notifications_bullet" descr="Automatic notification bullet">
            <a:extLst>
              <a:ext uri="{FF2B5EF4-FFF2-40B4-BE49-F238E27FC236}">
                <a16:creationId xmlns:a16="http://schemas.microsoft.com/office/drawing/2014/main" id="{BC4C0F20-0924-3D08-D61C-9C6E9B8C7765}"/>
              </a:ext>
            </a:extLst>
          </p:cNvPr>
          <p:cNvSpPr/>
          <p:nvPr/>
        </p:nvSpPr>
        <p:spPr>
          <a:xfrm>
            <a:off x="3479800" y="23749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build_notifications" descr="Automatic notification&#10;For anchor and truck issues">
            <a:extLst>
              <a:ext uri="{FF2B5EF4-FFF2-40B4-BE49-F238E27FC236}">
                <a16:creationId xmlns:a16="http://schemas.microsoft.com/office/drawing/2014/main" id="{607B280B-BC68-7DB3-D255-5A13011FCA73}"/>
              </a:ext>
            </a:extLst>
          </p:cNvPr>
          <p:cNvSpPr txBox="1"/>
          <p:nvPr/>
        </p:nvSpPr>
        <p:spPr>
          <a:xfrm>
            <a:off x="3657600" y="2286000"/>
            <a:ext cx="210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Automatic notification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For anchor and truck issues</a:t>
            </a:r>
          </a:p>
        </p:txBody>
      </p:sp>
      <p:cxnSp>
        <p:nvCxnSpPr>
          <p:cNvPr id="40" name="build_notifications_separator" descr="build_notifications_separator">
            <a:extLst>
              <a:ext uri="{FF2B5EF4-FFF2-40B4-BE49-F238E27FC236}">
                <a16:creationId xmlns:a16="http://schemas.microsoft.com/office/drawing/2014/main" id="{C807DC12-FD07-8984-51A5-C22B9288836D}"/>
              </a:ext>
            </a:extLst>
          </p:cNvPr>
          <p:cNvCxnSpPr/>
          <p:nvPr/>
        </p:nvCxnSpPr>
        <p:spPr>
          <a:xfrm>
            <a:off x="3479800" y="2730500"/>
            <a:ext cx="2286000" cy="0"/>
          </a:xfrm>
          <a:prstGeom prst="line">
            <a:avLst/>
          </a:prstGeom>
          <a:ln w="762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build_restart_bullet" descr="Controlled system restart bullet">
            <a:extLst>
              <a:ext uri="{FF2B5EF4-FFF2-40B4-BE49-F238E27FC236}">
                <a16:creationId xmlns:a16="http://schemas.microsoft.com/office/drawing/2014/main" id="{EE0C1696-C32C-84C6-515C-6F828D273BED}"/>
              </a:ext>
            </a:extLst>
          </p:cNvPr>
          <p:cNvSpPr/>
          <p:nvPr/>
        </p:nvSpPr>
        <p:spPr>
          <a:xfrm>
            <a:off x="3479800" y="28956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uild_restart" descr="Controlled system restart&#10;Standard recovery workflow">
            <a:extLst>
              <a:ext uri="{FF2B5EF4-FFF2-40B4-BE49-F238E27FC236}">
                <a16:creationId xmlns:a16="http://schemas.microsoft.com/office/drawing/2014/main" id="{6CB432E3-2094-0476-B1C9-BBD9C29AE861}"/>
              </a:ext>
            </a:extLst>
          </p:cNvPr>
          <p:cNvSpPr txBox="1"/>
          <p:nvPr/>
        </p:nvSpPr>
        <p:spPr>
          <a:xfrm>
            <a:off x="3657600" y="2806700"/>
            <a:ext cx="210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Controlled system restart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Standard recovery workflow</a:t>
            </a:r>
          </a:p>
        </p:txBody>
      </p:sp>
      <p:cxnSp>
        <p:nvCxnSpPr>
          <p:cNvPr id="43" name="build_restart_separator" descr="build_restart_separator">
            <a:extLst>
              <a:ext uri="{FF2B5EF4-FFF2-40B4-BE49-F238E27FC236}">
                <a16:creationId xmlns:a16="http://schemas.microsoft.com/office/drawing/2014/main" id="{E9AB1031-6E3F-9597-491B-CC1F77BE5287}"/>
              </a:ext>
            </a:extLst>
          </p:cNvPr>
          <p:cNvCxnSpPr/>
          <p:nvPr/>
        </p:nvCxnSpPr>
        <p:spPr>
          <a:xfrm>
            <a:off x="3479800" y="3251200"/>
            <a:ext cx="2286000" cy="0"/>
          </a:xfrm>
          <a:prstGeom prst="line">
            <a:avLst/>
          </a:prstGeom>
          <a:ln w="762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build_readiness_bullet" descr="Target readiness bullet">
            <a:extLst>
              <a:ext uri="{FF2B5EF4-FFF2-40B4-BE49-F238E27FC236}">
                <a16:creationId xmlns:a16="http://schemas.microsoft.com/office/drawing/2014/main" id="{84088466-1520-F7DA-7E61-02DB38CB9CED}"/>
              </a:ext>
            </a:extLst>
          </p:cNvPr>
          <p:cNvSpPr/>
          <p:nvPr/>
        </p:nvSpPr>
        <p:spPr>
          <a:xfrm>
            <a:off x="3479800" y="34163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build_readiness" descr="Target readiness&#10;Q1 2027">
            <a:extLst>
              <a:ext uri="{FF2B5EF4-FFF2-40B4-BE49-F238E27FC236}">
                <a16:creationId xmlns:a16="http://schemas.microsoft.com/office/drawing/2014/main" id="{76806BD0-11BB-6CBB-58CE-41BE7CCA1D8C}"/>
              </a:ext>
            </a:extLst>
          </p:cNvPr>
          <p:cNvSpPr txBox="1"/>
          <p:nvPr/>
        </p:nvSpPr>
        <p:spPr>
          <a:xfrm>
            <a:off x="3657600" y="3327400"/>
            <a:ext cx="2108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Target readiness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Q1 2027</a:t>
            </a:r>
          </a:p>
        </p:txBody>
      </p:sp>
      <p:sp>
        <p:nvSpPr>
          <p:cNvPr id="46" name="target_infolink_bullet" descr="Tier I through InfoLink bullet">
            <a:extLst>
              <a:ext uri="{FF2B5EF4-FFF2-40B4-BE49-F238E27FC236}">
                <a16:creationId xmlns:a16="http://schemas.microsoft.com/office/drawing/2014/main" id="{55186EF0-FB82-E4D3-636A-B75A5FEFD58A}"/>
              </a:ext>
            </a:extLst>
          </p:cNvPr>
          <p:cNvSpPr/>
          <p:nvPr/>
        </p:nvSpPr>
        <p:spPr>
          <a:xfrm>
            <a:off x="6299200" y="19304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arget_infolink" descr="Tier I through InfoLink&#10;Call Center ownership">
            <a:extLst>
              <a:ext uri="{FF2B5EF4-FFF2-40B4-BE49-F238E27FC236}">
                <a16:creationId xmlns:a16="http://schemas.microsoft.com/office/drawing/2014/main" id="{F0E7D12C-0D30-730E-B3F8-3F5B501BE72D}"/>
              </a:ext>
            </a:extLst>
          </p:cNvPr>
          <p:cNvSpPr txBox="1"/>
          <p:nvPr/>
        </p:nvSpPr>
        <p:spPr>
          <a:xfrm>
            <a:off x="6477000" y="1841500"/>
            <a:ext cx="210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Tier I through InfoLink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Call Center ownership</a:t>
            </a:r>
          </a:p>
        </p:txBody>
      </p:sp>
      <p:cxnSp>
        <p:nvCxnSpPr>
          <p:cNvPr id="48" name="target_infolink_separator" descr="target_infolink_separator">
            <a:extLst>
              <a:ext uri="{FF2B5EF4-FFF2-40B4-BE49-F238E27FC236}">
                <a16:creationId xmlns:a16="http://schemas.microsoft.com/office/drawing/2014/main" id="{DBDAD637-0516-B42E-435C-560579BD0A16}"/>
              </a:ext>
            </a:extLst>
          </p:cNvPr>
          <p:cNvCxnSpPr/>
          <p:nvPr/>
        </p:nvCxnSpPr>
        <p:spPr>
          <a:xfrm>
            <a:off x="6299200" y="2286000"/>
            <a:ext cx="2286000" cy="0"/>
          </a:xfrm>
          <a:prstGeom prst="line">
            <a:avLst/>
          </a:prstGeom>
          <a:ln w="762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arget_coverage_bullet" descr="Covers every reported issue bullet">
            <a:extLst>
              <a:ext uri="{FF2B5EF4-FFF2-40B4-BE49-F238E27FC236}">
                <a16:creationId xmlns:a16="http://schemas.microsoft.com/office/drawing/2014/main" id="{DEE51BC5-16E5-2C3D-DAAF-F0090F3C557C}"/>
              </a:ext>
            </a:extLst>
          </p:cNvPr>
          <p:cNvSpPr/>
          <p:nvPr/>
        </p:nvSpPr>
        <p:spPr>
          <a:xfrm>
            <a:off x="6299200" y="26035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arget_coverage" descr="Covers every reported issue&#10;Common Tier I path">
            <a:extLst>
              <a:ext uri="{FF2B5EF4-FFF2-40B4-BE49-F238E27FC236}">
                <a16:creationId xmlns:a16="http://schemas.microsoft.com/office/drawing/2014/main" id="{E34BB8FE-A068-71AF-764B-5F739BA9AE63}"/>
              </a:ext>
            </a:extLst>
          </p:cNvPr>
          <p:cNvSpPr txBox="1"/>
          <p:nvPr/>
        </p:nvSpPr>
        <p:spPr>
          <a:xfrm>
            <a:off x="6477000" y="2514600"/>
            <a:ext cx="210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Covers every reported issue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Common Tier I path</a:t>
            </a:r>
          </a:p>
        </p:txBody>
      </p:sp>
      <p:cxnSp>
        <p:nvCxnSpPr>
          <p:cNvPr id="51" name="target_coverage_separator" descr="target_coverage_separator">
            <a:extLst>
              <a:ext uri="{FF2B5EF4-FFF2-40B4-BE49-F238E27FC236}">
                <a16:creationId xmlns:a16="http://schemas.microsoft.com/office/drawing/2014/main" id="{4D3C442A-8D53-721A-BAA6-320D185AE6D9}"/>
              </a:ext>
            </a:extLst>
          </p:cNvPr>
          <p:cNvCxnSpPr/>
          <p:nvPr/>
        </p:nvCxnSpPr>
        <p:spPr>
          <a:xfrm>
            <a:off x="6299200" y="2959100"/>
            <a:ext cx="2286000" cy="0"/>
          </a:xfrm>
          <a:prstGeom prst="line">
            <a:avLst/>
          </a:prstGeom>
          <a:ln w="7620"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arget_recovery_bullet" descr="First-line recovery bullet">
            <a:extLst>
              <a:ext uri="{FF2B5EF4-FFF2-40B4-BE49-F238E27FC236}">
                <a16:creationId xmlns:a16="http://schemas.microsoft.com/office/drawing/2014/main" id="{A657678B-BF8D-D94B-5147-23C7930C027A}"/>
              </a:ext>
            </a:extLst>
          </p:cNvPr>
          <p:cNvSpPr/>
          <p:nvPr/>
        </p:nvSpPr>
        <p:spPr>
          <a:xfrm>
            <a:off x="6299200" y="3276600"/>
            <a:ext cx="57150" cy="57150"/>
          </a:xfrm>
          <a:prstGeom prst="ellipse">
            <a:avLst/>
          </a:prstGeom>
          <a:solidFill>
            <a:srgbClr val="FD9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arget_recovery" descr="First-line recovery&#10;Before Tier II escalation">
            <a:extLst>
              <a:ext uri="{FF2B5EF4-FFF2-40B4-BE49-F238E27FC236}">
                <a16:creationId xmlns:a16="http://schemas.microsoft.com/office/drawing/2014/main" id="{53D54BD7-9D98-A44E-E41F-071C97713BE5}"/>
              </a:ext>
            </a:extLst>
          </p:cNvPr>
          <p:cNvSpPr txBox="1"/>
          <p:nvPr/>
        </p:nvSpPr>
        <p:spPr>
          <a:xfrm>
            <a:off x="6477000" y="3187700"/>
            <a:ext cx="210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00000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First-line recovery</a:t>
            </a:r>
          </a:p>
          <a:p>
            <a:r>
              <a:rPr lang="en-US" sz="10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Before Tier II escalation</a:t>
            </a:r>
          </a:p>
        </p:txBody>
      </p:sp>
      <p:sp>
        <p:nvSpPr>
          <p:cNvPr id="54" name="model_action_band" descr="model_action_band">
            <a:extLst>
              <a:ext uri="{FF2B5EF4-FFF2-40B4-BE49-F238E27FC236}">
                <a16:creationId xmlns:a16="http://schemas.microsoft.com/office/drawing/2014/main" id="{8D78D59A-AF34-C90C-04FC-ED5BB97051CA}"/>
              </a:ext>
            </a:extLst>
          </p:cNvPr>
          <p:cNvSpPr/>
          <p:nvPr/>
        </p:nvSpPr>
        <p:spPr>
          <a:xfrm>
            <a:off x="457200" y="3898900"/>
            <a:ext cx="8229600" cy="749300"/>
          </a:xfrm>
          <a:prstGeom prst="rect">
            <a:avLst/>
          </a:prstGeom>
          <a:solidFill>
            <a:srgbClr val="FA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model_action_divider" descr="model_action_divider">
            <a:extLst>
              <a:ext uri="{FF2B5EF4-FFF2-40B4-BE49-F238E27FC236}">
                <a16:creationId xmlns:a16="http://schemas.microsoft.com/office/drawing/2014/main" id="{734D5B67-3638-E5F1-F2C8-F7CF6C3F9AD3}"/>
              </a:ext>
            </a:extLst>
          </p:cNvPr>
          <p:cNvCxnSpPr/>
          <p:nvPr/>
        </p:nvCxnSpPr>
        <p:spPr>
          <a:xfrm>
            <a:off x="4572000" y="3987800"/>
            <a:ext cx="0" cy="571500"/>
          </a:xfrm>
          <a:prstGeom prst="line">
            <a:avLst/>
          </a:prstGeom>
          <a:ln w="10160">
            <a:solidFill>
              <a:srgbClr val="FD98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interim_owner_icon" descr="Interim owner action icon">
            <a:extLst>
              <a:ext uri="{FF2B5EF4-FFF2-40B4-BE49-F238E27FC236}">
                <a16:creationId xmlns:a16="http://schemas.microsoft.com/office/drawing/2014/main" id="{2F9880C5-0944-786F-21FD-A73DF59B22B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" y="4102100"/>
            <a:ext cx="317500" cy="317500"/>
          </a:xfrm>
          <a:prstGeom prst="rect">
            <a:avLst/>
          </a:prstGeom>
        </p:spPr>
      </p:pic>
      <p:sp>
        <p:nvSpPr>
          <p:cNvPr id="58" name="interim_owner_heading" descr="INTERIM OWNER ACTION">
            <a:extLst>
              <a:ext uri="{FF2B5EF4-FFF2-40B4-BE49-F238E27FC236}">
                <a16:creationId xmlns:a16="http://schemas.microsoft.com/office/drawing/2014/main" id="{3D8051CF-BD3F-6A4B-4A94-28F5D6988571}"/>
              </a:ext>
            </a:extLst>
          </p:cNvPr>
          <p:cNvSpPr txBox="1"/>
          <p:nvPr/>
        </p:nvSpPr>
        <p:spPr>
          <a:xfrm>
            <a:off x="1092200" y="4013200"/>
            <a:ext cx="3175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50" b="1">
                <a:solidFill>
                  <a:srgbClr val="E0571D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INTERIM OWNER ACTION</a:t>
            </a:r>
          </a:p>
        </p:txBody>
      </p:sp>
      <p:sp>
        <p:nvSpPr>
          <p:cNvPr id="59" name="interim_owner_text" descr="Confirm the local bridge shutdown contact">
            <a:extLst>
              <a:ext uri="{FF2B5EF4-FFF2-40B4-BE49-F238E27FC236}">
                <a16:creationId xmlns:a16="http://schemas.microsoft.com/office/drawing/2014/main" id="{5013F1F6-169B-38ED-46AE-322BA0C75D41}"/>
              </a:ext>
            </a:extLst>
          </p:cNvPr>
          <p:cNvSpPr txBox="1"/>
          <p:nvPr/>
        </p:nvSpPr>
        <p:spPr>
          <a:xfrm>
            <a:off x="1092200" y="4292600"/>
            <a:ext cx="3175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Confirm the local bridge shutdown contact</a:t>
            </a:r>
          </a:p>
        </p:txBody>
      </p:sp>
      <p:pic>
        <p:nvPicPr>
          <p:cNvPr id="61" name="quote_inputs_icon" descr="Tier I quote inputs icon">
            <a:extLst>
              <a:ext uri="{FF2B5EF4-FFF2-40B4-BE49-F238E27FC236}">
                <a16:creationId xmlns:a16="http://schemas.microsoft.com/office/drawing/2014/main" id="{E11B6407-CBEC-9DA5-4538-607E929E03B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8700" y="4102100"/>
            <a:ext cx="317500" cy="317500"/>
          </a:xfrm>
          <a:prstGeom prst="rect">
            <a:avLst/>
          </a:prstGeom>
        </p:spPr>
      </p:pic>
      <p:sp>
        <p:nvSpPr>
          <p:cNvPr id="62" name="quote_inputs_heading" descr="TIER I QUOTE INPUTS">
            <a:extLst>
              <a:ext uri="{FF2B5EF4-FFF2-40B4-BE49-F238E27FC236}">
                <a16:creationId xmlns:a16="http://schemas.microsoft.com/office/drawing/2014/main" id="{37FE5147-B6A8-8E6B-DD2B-2B96C6D683C3}"/>
              </a:ext>
            </a:extLst>
          </p:cNvPr>
          <p:cNvSpPr txBox="1"/>
          <p:nvPr/>
        </p:nvSpPr>
        <p:spPr>
          <a:xfrm>
            <a:off x="5283200" y="4013200"/>
            <a:ext cx="3175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50" b="1" dirty="0">
                <a:solidFill>
                  <a:srgbClr val="E0571D"/>
                </a:solidFill>
                <a:latin typeface="Aptos Semibold" panose="020B0004020202020204" pitchFamily="34" charset="0"/>
                <a:ea typeface="Microsoft YaHei" panose="020B0503020204020204" pitchFamily="34" charset="-122"/>
              </a:rPr>
              <a:t>TIER I QUOTE INPUTS</a:t>
            </a:r>
          </a:p>
        </p:txBody>
      </p:sp>
      <p:sp>
        <p:nvSpPr>
          <p:cNvPr id="63" name="quote_inputs_text" descr="Response time  |  Coverage window&#10;Number of sites in scope">
            <a:extLst>
              <a:ext uri="{FF2B5EF4-FFF2-40B4-BE49-F238E27FC236}">
                <a16:creationId xmlns:a16="http://schemas.microsoft.com/office/drawing/2014/main" id="{D1144399-FA11-199E-326A-A0A6429FDE9A}"/>
              </a:ext>
            </a:extLst>
          </p:cNvPr>
          <p:cNvSpPr txBox="1"/>
          <p:nvPr/>
        </p:nvSpPr>
        <p:spPr>
          <a:xfrm>
            <a:off x="5283200" y="4279900"/>
            <a:ext cx="3175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50" dirty="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Response time  |  Coverage window</a:t>
            </a:r>
          </a:p>
          <a:p>
            <a:r>
              <a:rPr lang="en-US" sz="1050" dirty="0">
                <a:solidFill>
                  <a:srgbClr val="33333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Number of sites in scope</a:t>
            </a:r>
          </a:p>
        </p:txBody>
      </p:sp>
    </p:spTree>
    <p:extLst>
      <p:ext uri="{BB962C8B-B14F-4D97-AF65-F5344CB8AC3E}">
        <p14:creationId xmlns:p14="http://schemas.microsoft.com/office/powerpoint/2010/main" val="2223496284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">
  <a:themeElements>
    <a:clrScheme name="Crown 2024 Core UI Colors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FD9827"/>
      </a:accent1>
      <a:accent2>
        <a:srgbClr val="F27E22"/>
      </a:accent2>
      <a:accent3>
        <a:srgbClr val="E0571D"/>
      </a:accent3>
      <a:accent4>
        <a:srgbClr val="515151"/>
      </a:accent4>
      <a:accent5>
        <a:srgbClr val="888888"/>
      </a:accent5>
      <a:accent6>
        <a:srgbClr val="C2C2C2"/>
      </a:accent6>
      <a:hlink>
        <a:srgbClr val="0068D6"/>
      </a:hlink>
      <a:folHlink>
        <a:srgbClr val="263C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E811EDB0BBC44F800E68F286760C30" ma:contentTypeVersion="15" ma:contentTypeDescription="Create a new document." ma:contentTypeScope="" ma:versionID="95c6db1f3055b957e2339094ce96dbc0">
  <xsd:schema xmlns:xsd="http://www.w3.org/2001/XMLSchema" xmlns:xs="http://www.w3.org/2001/XMLSchema" xmlns:p="http://schemas.microsoft.com/office/2006/metadata/properties" xmlns:ns1="http://schemas.microsoft.com/sharepoint/v3" xmlns:ns2="1e40a57e-e289-4040-b039-378bea10df7d" targetNamespace="http://schemas.microsoft.com/office/2006/metadata/properties" ma:root="true" ma:fieldsID="78503426d8b00e9d52255cab8ea7185c" ns1:_="" ns2:_="">
    <xsd:import namespace="http://schemas.microsoft.com/sharepoint/v3"/>
    <xsd:import namespace="1e40a57e-e289-4040-b039-378bea10df7d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4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5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40a57e-e289-4040-b039-378bea10df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4801DD-7A9A-414C-89AD-CF68803940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E5AA4B4-2F97-4A5B-B20B-914BC35C3C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F82767-207F-4CFB-BC5E-F6158203C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e40a57e-e289-4040-b039-378bea10df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6293</TotalTime>
  <Words>283</Words>
  <Application>Microsoft Office PowerPoint</Application>
  <PresentationFormat>On-screen Show (16:9)</PresentationFormat>
  <Paragraphs>87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Amasis MT Pro Medium</vt:lpstr>
      <vt:lpstr>Aptos</vt:lpstr>
      <vt:lpstr>Aptos Semibold</vt:lpstr>
      <vt:lpstr>Arial</vt:lpstr>
      <vt:lpstr>Light Theme</vt:lpstr>
      <vt:lpstr>RTLS Support Update</vt:lpstr>
      <vt:lpstr>Support operations</vt:lpstr>
      <vt:lpstr>IDF power events drive recent anchor outages</vt:lpstr>
      <vt:lpstr>Tier I moves to InfoLink in Q1 2027; Tier II remains interim coverage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Frilling, Erin</dc:creator>
  <cp:lastModifiedBy>Gary Wu</cp:lastModifiedBy>
  <cp:revision>133</cp:revision>
  <cp:lastPrinted>2025-01-09T13:28:45Z</cp:lastPrinted>
  <dcterms:created xsi:type="dcterms:W3CDTF">2024-04-02T20:45:31Z</dcterms:created>
  <dcterms:modified xsi:type="dcterms:W3CDTF">2026-08-16T03:57:13Z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0x010100B2E811EDB0BBC44F800E68F286760C30</vt:lpwstr>
  </property>
</Properties>
</file>